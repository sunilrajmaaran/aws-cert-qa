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7"/>
  </p:notesMasterIdLst>
  <p:sldIdLst>
    <p:sldId id="256" r:id="rId2"/>
    <p:sldId id="257" r:id="rId3"/>
    <p:sldId id="258" r:id="rId4"/>
    <p:sldId id="259" r:id="rId5"/>
    <p:sldId id="260" r:id="rId6"/>
    <p:sldId id="37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5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6579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50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57200"/>
            <a:ext cx="1554480" cy="530352"/>
          </a:xfrm>
          <a:prstGeom prst="rect">
            <a:avLst/>
          </a:prstGeom>
          <a:solidFill>
            <a:srgbClr val="FF9900"/>
          </a:solidFill>
          <a:ln w="12700">
            <a:solidFill>
              <a:srgbClr val="FF9900"/>
            </a:solidFill>
            <a:prstDash val="solid"/>
          </a:ln>
        </p:spPr>
      </p:sp>
      <p:sp>
        <p:nvSpPr>
          <p:cNvPr id="4" name="Text 2"/>
          <p:cNvSpPr/>
          <p:nvPr/>
        </p:nvSpPr>
        <p:spPr>
          <a:xfrm>
            <a:off x="502920" y="457200"/>
            <a:ext cx="1554480" cy="530352"/>
          </a:xfrm>
          <a:prstGeom prst="rect">
            <a:avLst/>
          </a:prstGeom>
          <a:noFill/>
          <a:ln/>
        </p:spPr>
        <p:txBody>
          <a:bodyPr wrap="square" lIns="0" tIns="0" rIns="0" bIns="0" rtlCol="0" anchor="ctr"/>
          <a:lstStyle/>
          <a:p>
            <a:pPr marL="0" indent="0" algn="ctr">
              <a:buNone/>
            </a:pPr>
            <a:r>
              <a:rPr lang="en-US" sz="2200" b="1" dirty="0">
                <a:solidFill>
                  <a:srgbClr val="0A2540"/>
                </a:solidFill>
              </a:rPr>
              <a:t>AWS</a:t>
            </a:r>
            <a:endParaRPr lang="en-US" sz="2200" dirty="0"/>
          </a:p>
        </p:txBody>
      </p:sp>
      <p:sp>
        <p:nvSpPr>
          <p:cNvPr id="5" name="Text 3"/>
          <p:cNvSpPr/>
          <p:nvPr/>
        </p:nvSpPr>
        <p:spPr>
          <a:xfrm>
            <a:off x="502920" y="1188720"/>
            <a:ext cx="8229600" cy="1005840"/>
          </a:xfrm>
          <a:prstGeom prst="rect">
            <a:avLst/>
          </a:prstGeom>
          <a:noFill/>
          <a:ln/>
        </p:spPr>
        <p:txBody>
          <a:bodyPr wrap="square"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Cloud Fundamentals</a:t>
            </a:r>
            <a:endParaRPr lang="en-US" sz="5000" dirty="0"/>
          </a:p>
        </p:txBody>
      </p:sp>
      <p:sp>
        <p:nvSpPr>
          <p:cNvPr id="6" name="Text 4"/>
          <p:cNvSpPr/>
          <p:nvPr/>
        </p:nvSpPr>
        <p:spPr>
          <a:xfrm>
            <a:off x="502920" y="2240280"/>
            <a:ext cx="8229600" cy="502920"/>
          </a:xfrm>
          <a:prstGeom prst="rect">
            <a:avLst/>
          </a:prstGeom>
          <a:noFill/>
          <a:ln/>
        </p:spPr>
        <p:txBody>
          <a:bodyPr wrap="square" rtlCol="0" anchor="ctr"/>
          <a:lstStyle/>
          <a:p>
            <a:pPr marL="0" indent="0">
              <a:buNone/>
            </a:pPr>
            <a:r>
              <a:rPr lang="en-US" sz="2400" dirty="0">
                <a:solidFill>
                  <a:srgbClr val="FF9900"/>
                </a:solidFill>
                <a:latin typeface="Calibri" pitchFamily="34" charset="0"/>
                <a:ea typeface="Calibri" pitchFamily="34" charset="-122"/>
                <a:cs typeface="Calibri" pitchFamily="34" charset="-120"/>
              </a:rPr>
              <a:t>Training Series — </a:t>
            </a:r>
            <a:r>
              <a:rPr lang="en-US" sz="2400" dirty="0" smtClean="0">
                <a:solidFill>
                  <a:srgbClr val="FF9900"/>
                </a:solidFill>
                <a:latin typeface="Calibri" pitchFamily="34" charset="0"/>
                <a:ea typeface="Calibri" pitchFamily="34" charset="-122"/>
                <a:cs typeface="Calibri" pitchFamily="34" charset="-120"/>
              </a:rPr>
              <a:t>Maaran Tech Academy </a:t>
            </a:r>
            <a:endParaRPr lang="en-US" sz="2400" dirty="0"/>
          </a:p>
        </p:txBody>
      </p:sp>
      <p:sp>
        <p:nvSpPr>
          <p:cNvPr id="7" name="Text 5"/>
          <p:cNvSpPr/>
          <p:nvPr/>
        </p:nvSpPr>
        <p:spPr>
          <a:xfrm>
            <a:off x="502920" y="2880360"/>
            <a:ext cx="8229600" cy="365760"/>
          </a:xfrm>
          <a:prstGeom prst="rect">
            <a:avLst/>
          </a:prstGeom>
          <a:noFill/>
          <a:ln/>
        </p:spPr>
        <p:txBody>
          <a:bodyPr wrap="square" rtlCol="0" anchor="ctr"/>
          <a:lstStyle/>
          <a:p>
            <a:pPr marL="0" indent="0">
              <a:buNone/>
            </a:pPr>
            <a:r>
              <a:rPr lang="en-US" sz="1300" i="1" dirty="0">
                <a:solidFill>
                  <a:srgbClr val="1A9BD7"/>
                </a:solidFill>
              </a:rPr>
              <a:t>Aurora • ElastiCache • Edge Locations • IAM • Scaling • Load Balancers • Lambda • RDS</a:t>
            </a:r>
            <a:endParaRPr lang="en-US" sz="1300" dirty="0"/>
          </a:p>
        </p:txBody>
      </p:sp>
      <p:sp>
        <p:nvSpPr>
          <p:cNvPr id="8" name="Shape 6"/>
          <p:cNvSpPr/>
          <p:nvPr/>
        </p:nvSpPr>
        <p:spPr>
          <a:xfrm>
            <a:off x="502920" y="3337560"/>
            <a:ext cx="8229600" cy="27432"/>
          </a:xfrm>
          <a:prstGeom prst="rect">
            <a:avLst/>
          </a:prstGeom>
          <a:solidFill>
            <a:srgbClr val="1A9BD7"/>
          </a:solidFill>
          <a:ln w="12700">
            <a:solidFill>
              <a:srgbClr val="1A9BD7"/>
            </a:solidFill>
            <a:prstDash val="solid"/>
          </a:ln>
        </p:spPr>
      </p:sp>
      <p:sp>
        <p:nvSpPr>
          <p:cNvPr id="9" name="Text 7"/>
          <p:cNvSpPr/>
          <p:nvPr/>
        </p:nvSpPr>
        <p:spPr>
          <a:xfrm>
            <a:off x="502920" y="4480560"/>
            <a:ext cx="8229600" cy="320040"/>
          </a:xfrm>
          <a:prstGeom prst="rect">
            <a:avLst/>
          </a:prstGeom>
          <a:noFill/>
          <a:ln/>
        </p:spPr>
        <p:txBody>
          <a:bodyPr wrap="square" rtlCol="0" anchor="ctr"/>
          <a:lstStyle/>
          <a:p>
            <a:pPr marL="0" indent="0">
              <a:buNone/>
            </a:pPr>
            <a:r>
              <a:rPr lang="en-US" sz="1200" dirty="0">
                <a:solidFill>
                  <a:srgbClr val="64748B"/>
                </a:solidFill>
              </a:rPr>
              <a:t>28 Topics  •  Practical Use Cases  •  Quiz Questions</a:t>
            </a:r>
            <a:endParaRPr 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01</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Aurora</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Fully Managed Relational Database Service</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Aurora</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the owner of a rapidly growing online marketplace for handmade crafts. As buyers and sellers increase, your existing database struggles to keep up with demand. You need a reliable, scalable database solution that integrates seamlessly with your business while ensuring high performance and availability.</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Aurora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Aurora is a fully managed relational database service by Amazon Web Services. Compatible with MySQL and PostgreSQL, it provides the performance and availability of commercial-grade databases at a fraction of the cost.</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Traditional relational databases face challenges with scalability, performance, and reliability. AWS Aurora addresses these by offering a highly scalable and fast database solution that can handle demanding workloads with ease.</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 AWS Aurora, you create a database instance that automatically scales to accommodate changes in traffic. It uses a distributed, fault-tolerant architecture that replicates data across multiple Availability Zones, ensuring high availability and data durability.</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Aurora solves the challenge of managing large-scale, mission-critical databases in e-commerce, finance, and gaming — where data integrity, high availability, and low latency are essential for business success.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Aurora</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Which database engines are compatible with AWS Aurora?</a:t>
            </a:r>
            <a:endParaRPr lang="en-US" sz="1150" dirty="0"/>
          </a:p>
        </p:txBody>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dirty="0" smtClean="0">
                <a:ln w="0"/>
                <a:effectLst>
                  <a:outerShdw blurRad="38100" dist="19050" dir="2700000" algn="tl" rotWithShape="0">
                    <a:schemeClr val="dk1">
                      <a:alpha val="40000"/>
                    </a:schemeClr>
                  </a:outerShdw>
                </a:effectLst>
              </a:rPr>
              <a:t>  </a:t>
            </a:r>
            <a:r>
              <a:rPr lang="en-US" sz="1100" dirty="0">
                <a:ln w="0"/>
                <a:effectLst>
                  <a:outerShdw blurRad="38100" dist="19050" dir="2700000" algn="tl" rotWithShape="0">
                    <a:schemeClr val="dk1">
                      <a:alpha val="40000"/>
                    </a:schemeClr>
                  </a:outerShdw>
                </a:effectLst>
              </a:rPr>
              <a:t>MySQL and PostgreSQL</a:t>
            </a:r>
          </a:p>
        </p:txBody>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smtClean="0">
                <a:ln w="0"/>
                <a:effectLst>
                  <a:outerShdw blurRad="38100" dist="19050" dir="2700000" algn="tl" rotWithShape="0">
                    <a:schemeClr val="dk1">
                      <a:alpha val="40000"/>
                    </a:schemeClr>
                  </a:outerShdw>
                </a:effectLst>
              </a:rPr>
              <a:t>  </a:t>
            </a:r>
            <a:r>
              <a:rPr lang="en-US" sz="1100" dirty="0">
                <a:ln w="0"/>
                <a:effectLst>
                  <a:outerShdw blurRad="38100" dist="19050" dir="2700000" algn="tl" rotWithShape="0">
                    <a:schemeClr val="dk1">
                      <a:alpha val="40000"/>
                    </a:schemeClr>
                  </a:outerShdw>
                </a:effectLst>
              </a:rPr>
              <a:t>MongoDB and Cassandra</a:t>
            </a:r>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What is a key feature of AWS Aurora's architecture?</a:t>
            </a:r>
            <a:endParaRPr lang="en-US" sz="1150" dirty="0"/>
          </a:p>
        </p:txBody>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dirty="0" smtClean="0">
                <a:ln w="0"/>
                <a:effectLst>
                  <a:outerShdw blurRad="38100" dist="19050" dir="2700000" algn="tl" rotWithShape="0">
                    <a:schemeClr val="dk1">
                      <a:alpha val="40000"/>
                    </a:schemeClr>
                  </a:outerShdw>
                </a:effectLst>
              </a:rPr>
              <a:t>  </a:t>
            </a:r>
            <a:r>
              <a:rPr lang="en-US" sz="1100" dirty="0">
                <a:ln w="0"/>
                <a:effectLst>
                  <a:outerShdw blurRad="38100" dist="19050" dir="2700000" algn="tl" rotWithShape="0">
                    <a:schemeClr val="dk1">
                      <a:alpha val="40000"/>
                    </a:schemeClr>
                  </a:outerShdw>
                </a:effectLst>
              </a:rPr>
              <a:t>Multi-AZ deployment for high availability</a:t>
            </a:r>
          </a:p>
        </p:txBody>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smtClean="0">
                <a:ln w="0"/>
                <a:effectLst>
                  <a:outerShdw blurRad="38100" dist="19050" dir="2700000" algn="tl" rotWithShape="0">
                    <a:schemeClr val="dk1">
                      <a:alpha val="40000"/>
                    </a:schemeClr>
                  </a:outerShdw>
                </a:effectLst>
              </a:rPr>
              <a:t>  </a:t>
            </a:r>
            <a:r>
              <a:rPr lang="en-US" sz="1100" dirty="0">
                <a:ln w="0"/>
                <a:effectLst>
                  <a:outerShdw blurRad="38100" dist="19050" dir="2700000" algn="tl" rotWithShape="0">
                    <a:schemeClr val="dk1">
                      <a:alpha val="40000"/>
                    </a:schemeClr>
                  </a:outerShdw>
                </a:effectLst>
              </a:rPr>
              <a:t>Single Availability Zone deployment</a:t>
            </a:r>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Which industry is AWS Aurora particularly beneficial for?</a:t>
            </a:r>
            <a:endParaRPr lang="en-US" sz="1150" dirty="0"/>
          </a:p>
        </p:txBody>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dirty="0" smtClean="0">
                <a:ln w="0"/>
                <a:effectLst>
                  <a:outerShdw blurRad="38100" dist="19050" dir="2700000" algn="tl" rotWithShape="0">
                    <a:schemeClr val="dk1">
                      <a:alpha val="40000"/>
                    </a:schemeClr>
                  </a:outerShdw>
                </a:effectLst>
              </a:rPr>
              <a:t>  </a:t>
            </a:r>
            <a:r>
              <a:rPr lang="en-US" sz="1100" dirty="0">
                <a:ln w="0"/>
                <a:effectLst>
                  <a:outerShdw blurRad="38100" dist="19050" dir="2700000" algn="tl" rotWithShape="0">
                    <a:schemeClr val="dk1">
                      <a:alpha val="40000"/>
                    </a:schemeClr>
                  </a:outerShdw>
                </a:effectLst>
              </a:rPr>
              <a:t>E-commerce</a:t>
            </a:r>
          </a:p>
        </p:txBody>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smtClean="0">
                <a:ln w="0"/>
                <a:effectLst>
                  <a:outerShdw blurRad="38100" dist="19050" dir="2700000" algn="tl" rotWithShape="0">
                    <a:schemeClr val="dk1">
                      <a:alpha val="40000"/>
                    </a:schemeClr>
                  </a:outerShdw>
                </a:effectLst>
              </a:rPr>
              <a:t>  </a:t>
            </a:r>
            <a:r>
              <a:rPr lang="en-US" sz="1100" dirty="0">
                <a:ln w="0"/>
                <a:effectLst>
                  <a:outerShdw blurRad="38100" dist="19050" dir="2700000" algn="tl" rotWithShape="0">
                    <a:schemeClr val="dk1">
                      <a:alpha val="40000"/>
                    </a:schemeClr>
                  </a:outerShdw>
                </a:effectLst>
              </a:rPr>
              <a:t>Agriculture</a:t>
            </a:r>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Aurora</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Which database engines are compatible with AWS Aurora?</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MySQL and PostgreSQL</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txBody>
          <a:bodyPr/>
          <a:lstStyle/>
          <a:p>
            <a:endParaRPr lang="en-IN" dirty="0"/>
          </a:p>
        </p:txBody>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MongoDB and Cassandra</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What is a key feature of AWS Aurora's architecture?</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Multi-AZ deployment for high availability</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Single Availability Zone deployment</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Which industry is AWS Aurora particularly beneficial for?</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E-commerce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Agriculture</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extLst>
      <p:ext uri="{BB962C8B-B14F-4D97-AF65-F5344CB8AC3E}">
        <p14:creationId xmlns:p14="http://schemas.microsoft.com/office/powerpoint/2010/main" val="11507671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02</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ElastiCache</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Fully Managed In-Memory Caching Service</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ElastiCache</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the owner of a popular online gaming platform. Your users are spread across the globe and expect lightning-fast responses while playing multiplayer games. As your platform grows, your database struggles to keep up, leading to laggy gameplay and frustrated players. You need a solution that stores frequently accessed data closer to your users.</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ElastiCache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ElastiCache is a fully managed, in-memory caching service by Amazon Web Services. It improves performance and scalability by caching frequently accessed data in memory, reducing the need to fetch it from the main database.</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In-memory caching significantly reduces overhead of repeatedly accessing frequently used data — such as database query results, session data, and API responses. ElastiCache ensures faster response times and better scalability.</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 AWS ElastiCache, you create caching clusters using Redis or Memcached. These clusters store data in memory for lightning-fast read and write operations. When a request arrives, ElastiCache checks the cache first — reducing latency dramatically.</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ElastiCache helps improve performance and scalability of web applications, particularly in gaming, e-commerce, and social media — where low latency and high throughput are crucial for a seamless user experience.</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ElastiCache</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function of AWS ElastiCache?</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dirty="0" smtClean="0">
                <a:ln w="0"/>
                <a:effectLst>
                  <a:outerShdw blurRad="38100" dist="19050" dir="2700000" algn="tl" rotWithShape="0">
                    <a:schemeClr val="dk1">
                      <a:alpha val="40000"/>
                    </a:schemeClr>
                  </a:outerShdw>
                </a:effectLst>
              </a:rPr>
              <a:t>✓  </a:t>
            </a:r>
            <a:r>
              <a:rPr lang="en-US" sz="1100" dirty="0">
                <a:ln w="0"/>
                <a:effectLst>
                  <a:outerShdw blurRad="38100" dist="19050" dir="2700000" algn="tl" rotWithShape="0">
                    <a:schemeClr val="dk1">
                      <a:alpha val="40000"/>
                    </a:schemeClr>
                  </a:outerShdw>
                </a:effectLst>
              </a:rPr>
              <a:t>In-memory Caching</a:t>
            </a:r>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smtClean="0">
                <a:ln w="0"/>
                <a:effectLst>
                  <a:outerShdw blurRad="38100" dist="19050" dir="2700000" algn="tl" rotWithShape="0">
                    <a:schemeClr val="dk1">
                      <a:alpha val="40000"/>
                    </a:schemeClr>
                  </a:outerShdw>
                </a:effectLst>
              </a:rPr>
              <a:t>✗  </a:t>
            </a:r>
            <a:r>
              <a:rPr lang="en-US" sz="1100" dirty="0">
                <a:ln w="0"/>
                <a:effectLst>
                  <a:outerShdw blurRad="38100" dist="19050" dir="2700000" algn="tl" rotWithShape="0">
                    <a:schemeClr val="dk1">
                      <a:alpha val="40000"/>
                    </a:schemeClr>
                  </a:outerShdw>
                </a:effectLst>
              </a:rPr>
              <a:t>Database Management</a:t>
            </a:r>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Which caching engines are supported by AWS ElastiCache?</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Redis and Memcached</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smtClean="0">
                <a:solidFill>
                  <a:srgbClr val="C0392B"/>
                </a:solidFill>
              </a:rPr>
              <a:t>✗  </a:t>
            </a:r>
            <a:r>
              <a:rPr lang="en-US" sz="1100" dirty="0">
                <a:solidFill>
                  <a:srgbClr val="C0392B"/>
                </a:solidFill>
              </a:rPr>
              <a:t>MySQL and PostgreSQL</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In which industries is AWS ElastiCache particularly beneficial?</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Gaming and E-commerce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Agriculture</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03</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Edge Locations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Global Content Delivery &amp; Low Latency</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Edge Locations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streaming your favourite movie on a rainy day. Suddenly the internet slows and the video starts buffering. Now picture this — the movie is stored in a nearby DVD rental store. You walk there, pick up the DVD, and enjoy uninterrupted viewing. This is how AWS Edge Locations work.</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Edge Locations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Edge Locations are small digital storage units strategically placed around the world. They store copies of frequently accessed data — such as images, videos, and web pages — closer to end-users.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The purpose of AWS Edge Locations is to reduce latency and improve the performance of web applications and content delivery. By caching data closer to users, they experience faster load times and smoother interactions.</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When a user requests data, AWS Edge Locations deliver it from the nearest cache instead of fetching it from the original server — significantly reducing the time it takes to load content.</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 news website during breaking news experiences a traffic surge. Without Edge Locations, servers might crash under load. By caching content at Edge Locations, traffic spikes are handled effectively, ensuring timely updates without disruptions.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Edge Locations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best describes AWS Edge Locations?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Outposts designed to bring AWS services closer to end-users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Remote settlements for AWS employees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How do AWS Edge Locations improve user experience?</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By caching content and reducing latency</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By increasing latency and buffering</a:t>
            </a:r>
            <a:endParaRPr lang="en-US" sz="1100" dirty="0"/>
          </a:p>
        </p:txBody>
      </p:sp>
      <p:sp>
        <p:nvSpPr>
          <p:cNvPr id="16" name="Text 14"/>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04</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Shared Responsibility</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Security OF the Cloud vs. Security IN the Cloud</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Shared Responsibility</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renting a house. The landlord maintains the building's structure — ensuring the roof doesn't leak. But it's your responsibility to lock the doors, safeguard your belongings, and keep the house clean. This perfectly illustrates the AWS Shared Responsibility Model.</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Shared Responsibility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The AWS Shared Responsibility Model defines the division of security responsibilities between AWS and its customers. AWS is responsible for security 'of' the cloud infrastructure, while customers are responsible for security 'in' the cloud.</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This model ensures both AWS and customers play a role in securing data and applications. By clearly defining responsibilities, it reduces ambiguity and helps prevent security gaps across the entire platform.</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secures the underlying infrastructure — including hardware, software, and networking — while customers configure security settings, manage access controls, and protect their own data and applications.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 healthcare organisation storing patient records: AWS ensures physical data centre security, while the organisation implements encryption, access controls, and security measures to protect patient confidentiality and comply with regulations.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Shared Responsibility</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Who is responsible for securing the underlying cloud infrastructure?</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AWS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Customers</a:t>
            </a:r>
            <a:endParaRPr lang="en-US" sz="1100" dirty="0"/>
          </a:p>
        </p:txBody>
      </p:sp>
      <p:sp>
        <p:nvSpPr>
          <p:cNvPr id="10" name="Shape 8"/>
          <p:cNvSpPr/>
          <p:nvPr/>
        </p:nvSpPr>
        <p:spPr>
          <a:xfrm>
            <a:off x="228600" y="1618488"/>
            <a:ext cx="8686800" cy="246888"/>
          </a:xfrm>
          <a:prstGeom prst="rect">
            <a:avLst/>
          </a:prstGeom>
          <a:solidFill>
            <a:srgbClr val="FFF8F8"/>
          </a:solidFill>
          <a:ln w="12700">
            <a:solidFill>
              <a:srgbClr val="E8D0D0"/>
            </a:solidFill>
            <a:prstDash val="solid"/>
          </a:ln>
        </p:spPr>
      </p:sp>
      <p:sp>
        <p:nvSpPr>
          <p:cNvPr id="11" name="Text 9"/>
          <p:cNvSpPr/>
          <p:nvPr/>
        </p:nvSpPr>
        <p:spPr>
          <a:xfrm>
            <a:off x="365760" y="1618488"/>
            <a:ext cx="8412480" cy="246888"/>
          </a:xfrm>
          <a:prstGeom prst="rect">
            <a:avLst/>
          </a:prstGeom>
          <a:noFill/>
          <a:ln/>
        </p:spPr>
        <p:txBody>
          <a:bodyPr wrap="square" lIns="0" tIns="0" rIns="0" bIns="0" rtlCol="0" anchor="ctr"/>
          <a:lstStyle/>
          <a:p>
            <a:pPr marL="0" indent="0">
              <a:buNone/>
            </a:pPr>
            <a:r>
              <a:rPr lang="en-US" sz="1100" dirty="0">
                <a:solidFill>
                  <a:srgbClr val="C0392B"/>
                </a:solidFill>
              </a:rPr>
              <a:t>✗  Both AWS and customers</a:t>
            </a:r>
            <a:endParaRPr lang="en-US" sz="1100" dirty="0"/>
          </a:p>
        </p:txBody>
      </p:sp>
      <p:sp>
        <p:nvSpPr>
          <p:cNvPr id="12" name="Shape 10"/>
          <p:cNvSpPr/>
          <p:nvPr/>
        </p:nvSpPr>
        <p:spPr>
          <a:xfrm>
            <a:off x="228600" y="1956816"/>
            <a:ext cx="8686800" cy="292608"/>
          </a:xfrm>
          <a:prstGeom prst="rect">
            <a:avLst/>
          </a:prstGeom>
          <a:solidFill>
            <a:srgbClr val="0A2540"/>
          </a:solidFill>
          <a:ln w="12700">
            <a:solidFill>
              <a:srgbClr val="0A2540"/>
            </a:solidFill>
            <a:prstDash val="solid"/>
          </a:ln>
        </p:spPr>
      </p:sp>
      <p:sp>
        <p:nvSpPr>
          <p:cNvPr id="13" name="Text 11"/>
          <p:cNvSpPr/>
          <p:nvPr/>
        </p:nvSpPr>
        <p:spPr>
          <a:xfrm>
            <a:off x="320040" y="1956816"/>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What is the responsibility of customers in the Shared Responsibility Model?</a:t>
            </a:r>
            <a:endParaRPr lang="en-US" sz="1150" dirty="0"/>
          </a:p>
        </p:txBody>
      </p:sp>
      <p:sp>
        <p:nvSpPr>
          <p:cNvPr id="14" name="Shape 12"/>
          <p:cNvSpPr/>
          <p:nvPr/>
        </p:nvSpPr>
        <p:spPr>
          <a:xfrm>
            <a:off x="228600" y="2267712"/>
            <a:ext cx="8686800" cy="246888"/>
          </a:xfrm>
          <a:prstGeom prst="rect">
            <a:avLst/>
          </a:prstGeom>
          <a:solidFill>
            <a:srgbClr val="E8F8EE"/>
          </a:solidFill>
          <a:ln w="12700">
            <a:solidFill>
              <a:srgbClr val="1A8A4A"/>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Configuring access controls and managing data encryption</a:t>
            </a:r>
            <a:endParaRPr lang="en-US" sz="1100" dirty="0"/>
          </a:p>
        </p:txBody>
      </p:sp>
      <p:sp>
        <p:nvSpPr>
          <p:cNvPr id="16" name="Shape 14"/>
          <p:cNvSpPr/>
          <p:nvPr/>
        </p:nvSpPr>
        <p:spPr>
          <a:xfrm>
            <a:off x="228600" y="2532888"/>
            <a:ext cx="8686800" cy="246888"/>
          </a:xfrm>
          <a:prstGeom prst="rect">
            <a:avLst/>
          </a:prstGeom>
          <a:solidFill>
            <a:srgbClr val="FFF8F8"/>
          </a:solidFill>
          <a:ln w="12700">
            <a:solidFill>
              <a:srgbClr val="E8D0D0"/>
            </a:solidFill>
            <a:prstDash val="solid"/>
          </a:ln>
        </p:spPr>
      </p:sp>
      <p:sp>
        <p:nvSpPr>
          <p:cNvPr id="17" name="Text 15"/>
          <p:cNvSpPr/>
          <p:nvPr/>
        </p:nvSpPr>
        <p:spPr>
          <a:xfrm>
            <a:off x="365760" y="2532888"/>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Securing the underlying cloud infrastructure</a:t>
            </a:r>
            <a:endParaRPr lang="en-US" sz="1100" dirty="0"/>
          </a:p>
        </p:txBody>
      </p:sp>
      <p:sp>
        <p:nvSpPr>
          <p:cNvPr id="18" name="Text 1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05</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IAM in AWS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Identity and Access Management — Core Concepts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IAM in AWS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the owner of a magical treasure vault. To ensure only trusted individuals can access it, you issue enchanted keys granting specific permissions — allowing entry to certain chambers while keeping others locked. This is how IAM works in AWS.</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IAM in AWS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IAM (Identity and Access Management) in AWS controls who can access your cloud resources and what they're allowed to do. It enables you to manage users, groups, roles, and permissions securely.</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Just as you wouldn't give everyone the keys to your treasure vault, IAM allows you to control access to AWS resources — ensuring only authorised individuals can interact with your environment, reducing the risk of data breaches.</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 IAM, you create user accounts, define what actions they can perform (such as launching instances or accessing storage), and set up multi-factor authentication (MFA) for an extra layer of security.</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Without IAM, managing access for thousands of employees would be chaotic. IAM provides centralised control and visibility over user permissions, ensuring compliance with security policies and streamlining access management.</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IAM in AWS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IAM in AWS?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Identity and Access Management for controlling user permissions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 service for managing internet access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IAM important in AWS?</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It ensures only authorised individuals can access AWS resources</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It enhances server performance</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Which feature of IAM provides an extra layer of security?</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Multi-Factor Authentication (MFA)</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Multi-Regional Access Control</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06</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IAM Users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Managing Individual Identities in AWS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IAM Users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the manager of a grand castle. You assign different roles to staff — knights, cooks, and scribes — each with specific duties and access permissions. Similarly, AWS IAM Users allow you to grant specific permissions to individuals within your AWS environment.</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IAM Users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IAM Users are unique identities within your AWS environment — representing an employee, contractor, or application. Each user is granted access to AWS resources based on the permissions you define.</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Without proper roles and permissions, everyone would have access to everything — leading to security breaches. IAM Users provide a structured approach ensuring only authorised individuals can interact with your AWS resources.</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 IAM Users, you create accounts for individuals or applications needing AWS access. You assign permissions specifying what actions they can perform and which resources they can access — enforcing the principle of least privilege.</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a large corporation, managing access without IAM Users would be chaotic. IAM Users provide a centralised way to control permissions, enhancing security and ensuring compliance with industry regulations.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IAM Users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are AWS IAM Users?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Individuals or entities with access to AWS resources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Servers hosting AWS applications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are IAM Users important in AWS?</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To control access to AWS resources and enhance security</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To increase server performance</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Which principle do IAM Users help enforce?</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Principle of least privilege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Principle of maximum privilege</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07</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IAM Groups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Organising Users with Shared Permissions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IAM Groups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organising a medieval marketplace with sections for merchants, artisans, and entertainers. Instead of granting access individually, you group them by role. AWS IAM Groups work the same way — organising users with similar permissions into logical groups for easier management.</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IAM Groups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IAM Groups are virtual assemblies of users with similar roles or responsibilities. Instead of assigning permissions to individual users one by one, you gather users into groups and apply permissions to the entire group collectively.</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Managing permissions individually is cumbersome in large organisations. IAM Groups let you define permissions once and apply them to multiple users who share the same role — saving time and reducing errors.</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Using the AWS Management Console, CLI, or API, you create IAM Groups and allocate appropriate permissions. Users added to a group automatically inherit all the group's permissions — streamlining management.</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Without IAM Groups, administrators manage permissions user by user — leading to inefficiencies and security vulnerabilities. IAM Groups allow categorisation by role, streamlining access management across the entire AWS environment.</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IAM Groups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are AWS IAM Groups?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Virtual gatherings of users with similar roles or responsibilities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Automated scripts for AWS infrastructure</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are IAM Groups important in AWS?</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They enable controlled access to AWS resources</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They simplify billing processes</a:t>
            </a:r>
            <a:endParaRPr lang="en-US" sz="1100" dirty="0"/>
          </a:p>
        </p:txBody>
      </p:sp>
      <p:sp>
        <p:nvSpPr>
          <p:cNvPr id="16" name="Text 14"/>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08</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IAM Policies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Rules That Define Access Permissions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IAM Policies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a magical library where wizards access only specific sections based on their expertise — some study potions, others spells. Magical barriers enforce specific rules. AWS IAM Policies work similarly, controlling access to AWS resources based on predefined rules.</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IAM Policies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IAM Policies are documents containing rules that dictate who can access which AWS resources and what actions they can perform. These policies define the permissions granted to users, groups, or roles.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Without IAM Policies, managing access would be chaotic. IAM Policies provide clear guidelines on who can do what — ensuring security, compliance, and operational efficiency within the AWS environment.</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Using the AWS Management Console, CLI, or API, you define desired permissions — specifying which resources users can access and what actions they can take. Policies are attached to users, groups, or roles.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Organisations face the challenge of securing cloud resources while ensuring efficient access. IAM Policies provide granular control over permissions, helping enforce security policies and meet compliance requirements.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IAM Policies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are AWS IAM Policies?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Rulebooks for access control</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Scripts for deployment</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are IAM Policies important in AWS?</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They control access to resources</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They simplify billing</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 you create IAM Policies in AWS?</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Using AWS Management tools (Console, CLI, or API)</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Through magic</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09</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IAM Access Keys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Programmatic Access to AWS Services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IAM Access Keys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 own a magical vault guarded by a mystical door. To open it remotely, you possess a special wand that emits a unique light pattern recognised by the door. Similarly, AWS IAM Access Keys are your magical wand — allowing remote programmatic access to your AWS cloud vault.</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IAM Access Keys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IAM Access Keys consist of an Access Key ID and a Secret Access Key. These digital keys are used to securely authenticate and authorise programmatic access to AWS services.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Access keys provide a secure method for applications, scripts, and tools to interact with AWS services without manual login credentials. They ensure controlled and auditable access, enhancing security and compliance.</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Access keys are generated within the AWS IAM console. Once generated, they are used by applications to sign API requests — enabling secure programmatic communication with AWS services.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software development, data analytics, and DevOps — where automation and programmatic access are essential — IAM Access Keys provide a secure and efficient way to manage access and integrate AWS services into workflows.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IAM Access Keys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are AWS IAM Access Keys?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Digital identifiers (Access Key ID + Secret Access Key)</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Physical keys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are IAM Access Keys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They enable secure programmatic access</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They enable insecure access</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are IAM Access Keys generated?</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Within the AWS IAM console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By waving a wand</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10</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IAM Roles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Temporary Access and Secure Delegation</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IAM Roles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organising a grand masquerade ball. You assign different roles to guests — musicians, waiters, security guards — each with specific responsibilities and access permissions. Similarly, AWS IAM Roles assign specific sets of permissions to different entities within your AWS environment.</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IAM Roles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IAM Roles define a set of permissions that grant temporary access to AWS resources. They are used to delegate access to AWS services, users, or resources securely — without the need for long-term credentials.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IAM Roles eliminate the need to share long-term credentials, reducing the risk of credential exposure. They also enable seamless cross-account access, allowing entities in one AWS account to access resources in another.</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IAM Roles are created in the AWS IAM console. When an entity assumes a role, it receives temporary security credentials that grant access to specified resources. These credentials automatically rotate and expire — enhancing security.</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finance, healthcare, and government — where security and compliance are paramount — IAM Roles securely manage access permissions, ensure regulatory compliance, and enable controlled, auditable access delegation.</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IAM Roles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are AWS IAM Roles?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Sets of permissions that grant temporary access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Long-term credentials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are IAM Roles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They enable secure access delegation without long-term credentials</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They enable risky access sharing</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are IAM Roles managed?</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Within the AWS IAM console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Through email notifications</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11</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CLI</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Command Line Interface for AWS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CLI</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a chef preparing a grand feast. You have a magic wand that lets you command utensils, control temperatures, and summon ingredients with a flick. Similarly, AWS CLI is your magic wand in the cloud kitchen — orchestrating AWS services and managing resources with a simple keystroke.</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CLI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CLI is a tool that lets you interact with AWS services through your terminal or command prompt. It provides a command-line interface for provisioning resources, configuring settings, and retrieving information from your AWS environment.</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CLI offers efficiency, flexibility, and automation in managing AWS resources. It allows you to perform tasks quickly, automate repetitive operations, and integrate AWS management into your scripts and workflows.</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Install the AWS CLI on your local machine, configure it with your AWS credentials, and start typing commands. You can create EC2 instances, manage S3 buckets, configure security groups, and more — all with a few keystrokes.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software development, DevOps, and system administration — where agility and automation are crucial — AWS CLI empowers users to manage resources efficiently, automate routine tasks, and streamline cloud operations.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CLI</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AWS CLI?</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 command-line tool for interacting with AWS services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 graphical interface</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use AWS CLI?</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Efficiency and automation</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Complexity and confusion</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 you use AWS CLI?</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Through the terminal or command prompt</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Through a web browser</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12</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SDK</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Software Development Kit for AWS Integration</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SDK</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a talented chef preparing a feast for a royal banquet. You have a magical cookbook filled with recipes from around the world — guiding you through each step and providing all necessary tools. The AWS SDK is your magical cookbook in the cloud kitchen.</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SDK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The AWS SDK is a collection of tools, libraries, and APIs that developers use to interact with AWS services programmatically. It provides ready-made code snippets and functions that simplify integration of AWS services into applications.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The AWS SDK simplifies and accelerates development by abstracting away the complexities of interacting with AWS services. Developers focus on writing application logic rather than dealing with low-level infrastructure management.</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Developers include SDK libraries in their application code and use provided APIs to interact with AWS services — storing data in S3, processing messages with SQS, and deploying applications with Lambda, all seamlessly.</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software development, IoT, and mobile applications — where agility and innovation are essential — the AWS SDK empowers developers to build robust, scalable cloud-native applications quickly.</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SDK</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AWS SDK?</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 collection of tools, libraries, and APIs for AWS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Just a software package</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use AWS SDK?</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It simplifies and accelerates development</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It complicates development</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 developers use AWS SDK?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By including SDK libraries in their application code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By excluding AWS services</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13</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IAM Overview</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Centralised Access Management for AWS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IAM Overview</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the manager of a bustling city, overseeing access to different areas based on residents' roles. You have keys that unlock specific gates — some lead to the library, others to the marketplace. AWS IAM acts as the gatekeeper of your cloud city.</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IAM Overview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IAM (Identity and Access Management) is a service that allows you to manage access to AWS resources securely. It enables you to create and manage users, groups, and roles, and define fine-grained permissions.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IAM is crucial for maintaining the security and compliance of your AWS environment. It prevents unauthorised access, protects sensitive data, and ensures adherence to regulatory requirements.</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Using IAM, you create individual user accounts, organise users into groups based on their roles, and assign permissions to roles to grant access to specific resources or actions.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finance, healthcare, and government — where data security is paramount — IAM addresses the challenge of managing access to sensitive information, enforcing access control policies, and maintaining regulatory compliance.</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IAM Overview</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AWS IAM?</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Identity and Access Management</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Infrastructure and Asset Management</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IAM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Security and Compliance</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Marketing and Sales</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 you manage access with IAM?</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By creating users, groups, and roles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By installing software</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14</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IAM Identity Center</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Centralised Identity and Access Platform</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IAM Identity Center</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 are the ruler of a prosperous kingdom, overseeing citizens with various roles — from knights guarding the castle to artisans crafting artifacts. Each citizen contributes to the kingdom, but ensuring the security of your treasures is paramount. IAM Identity Center acts as the vigilant guardian.</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IAM Identity Center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IAM Identity Center is the cornerstone of security within the AWS kingdom. It serves as the gatekeeper, regulating access to AWS resources based on the identities of users and the permissions assigned to them.</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cloud computing, security is paramount. IAM Identity Center ensures only authorised individuals or systems can access AWS resources — mitigating risks of data breaches and unauthorised access through granular access control.</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IAM Identity Center acts as the master key — granting access to the right individuals at the right time. It allows you to create and manage users, groups, and roles, with groups enabling organisation of users with similar permissions.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Organisations face the challenge of managing access to resources securely. IAM Identity Center provides a centralised platform for managing user identities and access permissions — securing sensitive data and ensuring regulatory compliance.</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IAM Identity Center</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does IAM stand for?</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Identity and Access Management</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Identity and Authorization Management</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Which IAM entity bundles users with similar permissions?</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Groups</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Users</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What industry problem does IAM Identity Center address?</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Access control and security</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Data storage optimisation</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15</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Scaling</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Dynamically Adjusting Resource Capacity</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Scaling</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 run a bakery and your business is booming. During the holidays, demand skyrockets — but your small oven can only bake a limited number of items at once. You need a magical oven that automatically adjusts its size based on orders. This is exactly how AWS Scaling works.</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Scaling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Scaling refers to the ability to adjust the capacity of your AWS resources dynamically in response to changing workload demands — increasing or decreasing computing power, storage, and other resources to maintain performance.</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Scaling ensures your applications can handle traffic fluctuations without downtime or performance issues. It accommodates sudden spikes in user activity, meets customer demand effectively, and optimises resource utilisation.</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provides vertical scaling (increasing individual resource size) and horizontal scaling (adding more resources). Auto Scaling automatically adjusts EC2 instances based on predefined policies.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e-commerce, media streaming, and gaming — where applications experience unpredictable traffic — AWS Scaling maintains consistent performance and availability, enabling businesses to deliver seamless experiences while optimising costs.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Scaling</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AWS Scaling?</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Dynamically adjusting resource capacity</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Creating new accounts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AWS Scaling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Performance and Availability</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Just cost optimisation</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 you implement AWS Scaling?</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Auto Scaling and managed services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Manually adjusting resources</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16</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Horizontal Scaling</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Scaling Out — Adding More Resources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Horizontal Scaling</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Picture Craftopia as a bustling marketplace teeming with eager buyers and talented sellers. As more artisans joined and more customers arrived, servers felt the strain. Just like a busy marketplace overflowing with visitors, Craftopia needed to expand capacity to accommodate the growing crowds.</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Horizontal Scaling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Horizontal Scaling (also known as 'Scaling Out') spreads the workload across multiple servers instead of relying on a single powerful one. It ensures no single server is overwhelmed by distributing the load across multiple instances.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Craftopia's success attracted unprecedented traffic. Horizontal Scaling provided the perfect remedy — allowing seamless infrastructure expansion to meet ever-growing demands without the limitations of a single server.</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Using AWS Auto Scaling Groups and Elastic Load Balancers: Auto Scaling Groups automatically increase or decrease the number of instances based on traffic. Elastic Load Balancers ensure workload is evenly distributed across all instances.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Whether an e-commerce platform experiencing holiday shopping surges or a streaming service catering to millions — Horizontal Scaling ensures consistent performance regardless of traffic volume across virtually every industry.</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Horizontal Scaling</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Horizontal Scaling also known as?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Scaling Out</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Scaling Up</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Which AWS service adjusts instance count based on conditions?</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Amazon EC2 Auto Scaling</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Amazon RDS</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Which AWS service distributes traffic across instances?</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Elastic Load Balancing</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Amazon CloudFront</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17</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Vertical Scaling</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Scaling Up — Upgrading Existing Resources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Vertical Scaling</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Cloud Confections as a cosy bakery. Every morning customers line up for freshly baked delights. As the bakery's fame spread, queues grew longer. Just like a baker needing a bigger oven, Cloud Confections needed a solution to handle the increasing workload.</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Vertical Scaling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Vertical Scaling — also known as 'Scaling Up' — involves increasing the capacity of a single server to handle more workload. It's like upgrading from a small baking oven to a larger one to accommodate more output at once.</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Cloud Confections chose Vertical Scaling because it allowed capacity expansion without reconfiguring the entire setup. Rather than adding more baking stations, they simply upgraded their existing oven — simpler and less disruptive.</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With AWS, you vertically scale by upgrading your existing server with more powerful resources — more CPU, memory, and storage. Using Amazon EC2 Instance Types, you select a larger instance size to handle the increased workload.</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Whether a bakery struggling with demand or an e-commerce website facing order surges — Vertical Scaling allows businesses to upgrade existing resources to handle increased workloads without the complexity of horizontal expansion.</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Vertical Scaling</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Which AWS service allows upgrading resources of an existing EC2 instance?</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Amazon EC2 Instance Types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Amazon RDS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What problem does Vertical Scaling solve?</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Handling increased workload without adding more servers</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Increased server downtime</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Which analogy best describes Vertical Scaling?</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Upgrading from a small oven to a larger one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Adding more baking stations to a bakery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18</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Auto Scaling Groups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Automatic Infrastructure Scaling</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Auto Scaling Groups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Market Mingle as a bustling marketplace. On a sunny day, throngs of visitors flock to the stalls. But when a storm sweeps through, crowds dwindle. Market Mingle needed to dynamically scale infrastructure to meet varying demand — exactly what Auto Scaling Groups provide.</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Auto Scaling Groups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Auto Scaling Groups automatically scale your infrastructure up or down based on predefined conditions. They spin up additional servers when demand increases and scale down when traffic subsides — ensuring resources are never wasted.</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Market Mingle faced unpredictable visitor traffic — busy one moment, quiet the next. They needed a real-time solution without manual intervention. Auto Scaling Groups maintain optimal performance and cost efficiency automatically.</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Whenever visitor numbers exceed a threshold, Auto Scaling Groups spin up additional servers. When traffic subsides, it scales down. All based on predefined scaling policies — no manual intervention required.</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From e-commerce platforms with sales traffic spikes to online gaming platforms with sudden player surges — Auto Scaling Groups solve the scalability challenge, maintaining optimal performance regardless of demand fluctuations.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Auto Scaling Groups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are AWS Auto Scaling Groups?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 tool for automatically adjusting server capacity</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 team of magical assistants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are Auto Scaling Groups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To ensure optimal performance and cost efficiency</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To manually adjust server capacity</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 Auto Scaling Groups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By automatically adding/removing resources based on demand</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By casting spells to attract visitors</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19</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Scaling Policies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Rules for Automatic Resource Management</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Scaling Policies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 are the captain of a magnificent airship navigating ever-changing weather. You must adjust altitude and speed for a smooth voyage. Similarly, AWS Scaling Policies allow you to dynamically adjust resource capacity based on fluctuating demand — ensuring optimal performance and cost efficiency.</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Scaling Policies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Scaling Policies are rules or configurations that automatically adjust the capacity of your AWS resources in response to changes in demand or utilisation — enabling seamless scale up or down to always have the right resources.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cloud computing, where workloads vary dramatically, scalability is key to maximising efficiency and minimising costs. Scaling Policies provide a proactive approach — responding dynamically to changes without manual intervention.</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Think of Scaling Policies as levers and gears that automatically adjust your resource pool based on predefined rules. When conditions are met — increased traffic or CPU reaching a threshold — the policy triggers actions to add or remove resources.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Organisations face the challenge of dynamically scaling infrastructure to meet fluctuating demand without excessive costs or performance sacrifice. AWS Scaling Policies provide a flexible and automated mechanism for resource management.</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Scaling Policies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are AWS Scaling Policies used for?</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Adjusting resource capacity based on demand</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Managing database schemas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are AWS Scaling Policies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They enable dynamic resource management</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They only ensure high availability</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 AWS Scaling Policies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They automatically adjust capacity based on predefined rules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They manually adjust capacity based on user input</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20</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Elastic Load Balancer</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Distributing Traffic for High Availability</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Elastic Load Balancer</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Picture yourself as the proprietor of a bustling marketplace where merchants sell their wares. As foot traffic increases, ensuring smooth access to each stall becomes crucial. AWS Elastic Load Balancer acts as the gatekeeper — distributing visitors evenly, ensuring no single merchant is overwhelmed.</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Elastic Load Balancer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Elastic Load Balancer (ELB) automatically distributes incoming application traffic across multiple targets — such as EC2 instances or containers — to ensure optimal resource utilisation and fault tolerance.</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Fluctuations in web traffic are inevitable. ELB ensures high availability, fault tolerance, and scalability by evenly distributing incoming traffic. By intelligently balancing the load, ELB enhances performance and mitigates downtime.</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ELB acts as a master conductor orchestrating traffic. When a request arrives, ELB evaluates target health, network latency, and request type before directing it to the most suitable target via dynamic scaling and health checks.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Managing incoming traffic and ensuring high availability in web services can be daunting. ELB provides a scalable and fault-tolerant solution for distributing traffic — essential for any production web application.</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Elastic Load Balancer</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role of AWS ELB?</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Distributing traffic across multiple targets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Storing data</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AWS ELB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Ensures high availability and fault tolerance</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Manages databases</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does AWS ELB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Directs traffic to suitable targets based on health checks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Evaluates network latency only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2">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21</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Classic Load Balancer</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Foundational Load Balancing for EC2</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Classic Load Balancer</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hosting a grand feast with guests arriving from all over the kingdom. As guests grow in number, ensuring each is served promptly becomes paramount. AWS Classic Load Balancer acts as your trusty steward — distributing guests among dining halls, preventing overcrowding, and ensuring a delightful experience for all.</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Classic Load Balancer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Classic Load Balancer is a foundational AWS component that distributes incoming requests across multiple EC2 instances, ensuring high availability and fault tolerance. It seamlessly routes traffic to healthy instances.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Fluctuations in web traffic are inevitable. Classic Load Balancer maintains application availability by evenly distributing requests across multiple instances — preventing any single instance from being overwhelmed.</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When a request arrives, the load balancer evaluates instance health and network latency before directing traffic to the most suitable instance. Through dynamic scaling and health checks, it ensures efficient load distribution.</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Ensuring high availability and scalability in web services can be daunting. AWS Classic Load Balancer provides a scalable and fault-tolerant solution for distributing traffic — essential for production applications.</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Classic Load Balancer</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role of AWS Classic Load Balancer?</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Distributing traffic across EC2 instances</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Storing data</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Classic Load Balancer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Ensures high availability</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Manages databases</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does Classic Load Balancer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Directs traffic to suitable targets via health checks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Evaluates network latency only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6">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22</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Gateway Load Balancer</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Network Traffic Distribution and Security</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Gateway Load Balancer</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 are the manager of a bustling marketplace where vendors from different regions gather. As foot traffic increases, ensuring smooth access to each vendor becomes crucial. AWS Gateway Load Balancer acts as your trusted assistant — orchestrating the flow of visitors to ensure balanced load distribution.</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Gateway Load Balancer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Gateway Load Balancer efficiently distributes incoming network traffic across multiple targets — such as EC2 instances, containers, or IP addresses. It acts as a gateway to your network resources, managing traffic flow and optimising resource utilisation.</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network architecture, high availability, fault tolerance, and security are paramount. AWS Gateway Load Balancer intelligently routes incoming traffic to the most suitable targets — improving application performance and reliability.</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Think of Gateway Load Balancer as a vigilant gatekeeper at your network entrance. When a request arrives, it evaluates target health, network latency, and routing rules before directing traffic to the appropriate destination.</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Managing and scaling network infrastructure can be complex. Gateway Load Balancer provides a scalable solution for distributing network traffic — handling traffic spikes, optimising resource utilisation, and ensuring high availability.</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Gateway Load Balancer</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role of AWS Gateway Load Balancer?</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Distributing network traffic</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Managing databases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Gateway Load Balancer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Optimises resource utilisation</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Only ensures high availability</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does Gateway Load Balancer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Directs traffic to appropriate targets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Only evaluates network latency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23</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Network Load Balancer</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High-Performance Network Traffic Management</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Network Load Balancer</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hosting a grand feast in a magnificent hall with guests arriving from all corners of the kingdom. You notice some guests crowding around certain food stations while others remain untouched. AWS Network Load Balancer steps in as your astute banquet manager — ensuring even distribution and a delightful experience for all.</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Network Load Balancer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Network Load Balancer is a high-performance service that efficiently distributes incoming network traffic across multiple targets within a single subnet. It intelligently routes traffic to optimise performance and reliability at massive scale.</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network architecture, high availability, fault tolerance, and scalability are essential. Network Load Balancer evenly distributes incoming network traffic across multiple targets — improving application performance and reliability.</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When a request arrives, Network Load Balancer evaluates target health, network latency, and routing rules before directing traffic to the most suitable destination. Dynamic routing and health checks ensure efficient load distribution.</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Managing and scaling network infrastructure can be challenging. AWS Network Load Balancer provides a scalable solution for distributing traffic — handling network traffic spikes, optimising resource utilisation, and ensuring high availability.</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Network Load Balancer</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role of AWS Network Load Balancer?</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Distributing network traffic</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Managing databases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Network Load Balancer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Optimises resource utilisation</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Only ensures high availability</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does Network Load Balancer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Directs traffic to appropriate targets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Only evaluates network latency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24</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Application Load Balancer</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Content-Based Traffic Routing</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Application Load Balancer</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you're the manager of a bustling restaurant with hungry diners pouring through the doors. As the dinner rush begins, certain tables fill up while others stay empty. AWS Application Load Balancer steps in as your savvy maitre d' — orchestrating the flow of diners, ensuring even distribution and optimal dining experience.</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Application Load Balancer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Application Load Balancer efficiently distributes incoming application traffic across multiple targets — such as EC2 instances or containers — based on the content of the request, including URL paths, HTTP headers, and cookies.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In web applications, high availability, scalability, and security are paramount. Application Load Balancer evenly distributes incoming traffic across multiple targets — improving application performance and user experience.</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Application Load Balancer analyses incoming requests considering URL paths, HTTP headers, and cookies before routing traffic to the appropriate target. This content-based routing enables sophisticated traffic management and microservices.</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Managing and scaling web applications can be complex. Application Load Balancer provides a scalable solution for distributing application traffic — handling user traffic spikes and ensuring high availability.</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Application Load Balancer</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role of AWS Application Load Balancer?</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Distributing traffic based on request content</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Managing databases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Application Load Balancer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Optimises resource utilisation</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Only ensures high availability</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does Application Load Balancer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Directs traffic based on URL paths, headers, and cookies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Only evaluates network latency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8">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25</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Classic Load Balancer v2</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Load Balancing for Single Availability Zone</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Classic Load Balancer v2</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hosting a grand event with guests arriving from all over the kingdom. You notice some entry gates getting crowded while others remain empty. AWS Classic Load Balancer steps in as your vigilant gatekeeper — directing guests to the least crowded gates, ensuring smooth entry and optimal flow for all.</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Classic Load Balancer v2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Classic Load Balancer efficiently distributes incoming application traffic across multiple EC2 instances or targets within a single Availability Zone. It acts as a virtual traffic cop, ensuring balanced load distribution and high availability.</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High availability, fault tolerance, and scalability are paramount. Classic Load Balancer achieves these objectives by evenly distributing incoming traffic across multiple targets — improving application performance.</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Classic Load Balancer evaluates target health and availability before directing traffic to the most suitable destination. Through dynamic routing and health checks, it ensures efficient load distribution and optimal resource utilisation.</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Managing and scaling web applications can be complex. Classic Load Balancer provides a scalable and resilient solution — handling user traffic spikes, optimising resource utilisation, and ensuring high availability.</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Classic Load Balancer v2</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role of AWS Classic Load Balancer?</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Distributing traffic</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Storing files</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is Classic Load Balancer important?</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Optimises resource utilisation</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Manages databases</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does Classic Load Balancer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Directs traffic to appropriate targets</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Only evaluates network latency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2">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26</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Target Groups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Routing Traffic to Registered Targets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Target Groups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Imagine you own an e-commerce platform. You want your website to remain available and responsive during high traffic — like a big sale. Simply adding more servers isn't efficient because traffic fluctuates. You need a dynamic way to distribute incoming traffic across multiple servers based on demand.</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Target Groups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Target Groups are a vital component of Elastic Load Balancing (ELB). They allow you to route incoming traffic to one or more registered targets — such as EC2 instances, containers, or IP addresses.</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Target Groups enable efficient load balancing, ensuring incoming requests are distributed evenly across multiple targets. This maintains high availability and improves the overall performance of your applications.</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When a client sends a request, it goes to the ELB first. The ELB uses routing rules to determine which Target Group to forward the request to — based on URL path, host header, or HTTP method.</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Target Groups solve the challenge of efficiently managing incoming traffic and ensuring high availability — particularly in e-commerce, online gaming, and streaming services where traffic spikes are common.</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Target Groups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function of AWS Target Groups?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Load Balancing</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Auto Scaling</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Which of the following is NOT a valid target for AWS Target Groups?</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S3 Bucket</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EC2 Instance</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In which industry are AWS Target Groups particularly beneficial?</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E-commerce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Healthcare only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6">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27</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RDS</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Managed Relational Database Service</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RDS</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Picture this — you're the owner of a bustling online bookstore. Your business is booming but managing your database is becoming a headache. You need a reliable, scalable solution that handles database maintenance so you can focus on growing your business.</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RDS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RDS (Amazon Relational Database Service) is a managed database service that makes it easy to set up, operate, and scale a relational database in the cloud. It supports MySQL, PostgreSQL, Oracle, SQL Server, and MariaDB.</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Managing a database can be complex and time-consuming. AWS RDS handles routine tasks like provisioning, patching, backup, recovery, and scaling — allowing you to focus on your applications and business logic.</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Simply choose your database engine, select instance specifications (CPU, memory, storage), and define your schema. AWS handles the rest — provisioning infrastructure, managing backups, and applying patches automatically.</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RDS solves database management complexity — particularly for e-commerce, finance, and healthcare businesses where maintaining high availability, scalability, and data integrity are paramount.</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RDS</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the primary benefit of AWS RDS?</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Managed Database Service</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High Availability only</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Which database engine is NOT supported by AWS RDS?</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MongoDB</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MySQL</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In which industries is AWS RDS particularly beneficial?</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Healthcare and Finance</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Manufacturing only</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Shape 1"/>
          <p:cNvSpPr/>
          <p:nvPr/>
        </p:nvSpPr>
        <p:spPr>
          <a:xfrm>
            <a:off x="502920" y="411480"/>
            <a:ext cx="1005840" cy="502920"/>
          </a:xfrm>
          <a:prstGeom prst="rect">
            <a:avLst/>
          </a:prstGeom>
          <a:solidFill>
            <a:srgbClr val="FF9900"/>
          </a:solidFill>
          <a:ln w="12700">
            <a:solidFill>
              <a:srgbClr val="FF9900"/>
            </a:solidFill>
            <a:prstDash val="solid"/>
          </a:ln>
        </p:spPr>
      </p:sp>
      <p:sp>
        <p:nvSpPr>
          <p:cNvPr id="4" name="Text 2"/>
          <p:cNvSpPr/>
          <p:nvPr/>
        </p:nvSpPr>
        <p:spPr>
          <a:xfrm>
            <a:off x="502920" y="411480"/>
            <a:ext cx="1005840" cy="502920"/>
          </a:xfrm>
          <a:prstGeom prst="rect">
            <a:avLst/>
          </a:prstGeom>
          <a:noFill/>
          <a:ln/>
        </p:spPr>
        <p:txBody>
          <a:bodyPr wrap="square" lIns="0" tIns="0" rIns="0" bIns="0" rtlCol="0" anchor="ctr"/>
          <a:lstStyle/>
          <a:p>
            <a:pPr marL="0" indent="0" algn="ctr">
              <a:buNone/>
            </a:pPr>
            <a:r>
              <a:rPr lang="en-US" sz="2000" b="1" dirty="0">
                <a:solidFill>
                  <a:srgbClr val="0A2540"/>
                </a:solidFill>
              </a:rPr>
              <a:t>28</a:t>
            </a:r>
            <a:endParaRPr lang="en-US" sz="2000" dirty="0"/>
          </a:p>
        </p:txBody>
      </p:sp>
      <p:sp>
        <p:nvSpPr>
          <p:cNvPr id="5" name="Text 3"/>
          <p:cNvSpPr/>
          <p:nvPr/>
        </p:nvSpPr>
        <p:spPr>
          <a:xfrm>
            <a:off x="502920" y="1143000"/>
            <a:ext cx="8321040" cy="109728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AWS Lambda</a:t>
            </a:r>
            <a:endParaRPr lang="en-US" sz="4200" dirty="0"/>
          </a:p>
        </p:txBody>
      </p:sp>
      <p:sp>
        <p:nvSpPr>
          <p:cNvPr id="6" name="Text 4"/>
          <p:cNvSpPr/>
          <p:nvPr/>
        </p:nvSpPr>
        <p:spPr>
          <a:xfrm>
            <a:off x="502920" y="2331720"/>
            <a:ext cx="8046720" cy="457200"/>
          </a:xfrm>
          <a:prstGeom prst="rect">
            <a:avLst/>
          </a:prstGeom>
          <a:noFill/>
          <a:ln/>
        </p:spPr>
        <p:txBody>
          <a:bodyPr wrap="square" rtlCol="0" anchor="ctr"/>
          <a:lstStyle/>
          <a:p>
            <a:pPr marL="0" indent="0">
              <a:buNone/>
            </a:pPr>
            <a:r>
              <a:rPr lang="en-US" sz="1800" i="1" dirty="0">
                <a:solidFill>
                  <a:srgbClr val="1A9BD7"/>
                </a:solidFill>
              </a:rPr>
              <a:t>Serverless Computing — Run Code Without Servers</a:t>
            </a:r>
            <a:endParaRPr lang="en-US" sz="1800" dirty="0"/>
          </a:p>
        </p:txBody>
      </p:sp>
      <p:sp>
        <p:nvSpPr>
          <p:cNvPr id="7" name="Shape 5"/>
          <p:cNvSpPr/>
          <p:nvPr/>
        </p:nvSpPr>
        <p:spPr>
          <a:xfrm>
            <a:off x="502920" y="2880360"/>
            <a:ext cx="8229600" cy="27432"/>
          </a:xfrm>
          <a:prstGeom prst="rect">
            <a:avLst/>
          </a:prstGeom>
          <a:solidFill>
            <a:srgbClr val="FF9900"/>
          </a:solidFill>
          <a:ln w="12700">
            <a:solidFill>
              <a:srgbClr val="FF9900"/>
            </a:solidFill>
            <a:prstDash val="solid"/>
          </a:ln>
        </p:spPr>
      </p:sp>
      <p:sp>
        <p:nvSpPr>
          <p:cNvPr id="8" name="Text 6"/>
          <p:cNvSpPr/>
          <p:nvPr/>
        </p:nvSpPr>
        <p:spPr>
          <a:xfrm>
            <a:off x="502920" y="4480560"/>
            <a:ext cx="8229600" cy="320040"/>
          </a:xfrm>
          <a:prstGeom prst="rect">
            <a:avLst/>
          </a:prstGeom>
          <a:noFill/>
          <a:ln/>
        </p:spPr>
        <p:txBody>
          <a:bodyPr wrap="square" rtlCol="0" anchor="ctr"/>
          <a:lstStyle/>
          <a:p>
            <a:pPr marL="0" indent="0">
              <a:buNone/>
            </a:pPr>
            <a:r>
              <a:rPr lang="en-US" sz="1100" dirty="0" smtClean="0">
                <a:solidFill>
                  <a:srgbClr val="64748B"/>
                </a:solidFill>
              </a:rPr>
              <a:t>Maaran Tech Academy  </a:t>
            </a:r>
            <a:r>
              <a:rPr lang="en-US" sz="1100" dirty="0">
                <a:solidFill>
                  <a:srgbClr val="64748B"/>
                </a:solidFill>
              </a:rPr>
              <a:t>|  AWS Training Program</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Practical Use Case  —  AWS Lambda</a:t>
            </a:r>
            <a:endParaRPr lang="en-US" sz="1500" dirty="0"/>
          </a:p>
        </p:txBody>
      </p:sp>
      <p:sp>
        <p:nvSpPr>
          <p:cNvPr id="4" name="Shape 2"/>
          <p:cNvSpPr/>
          <p:nvPr/>
        </p:nvSpPr>
        <p:spPr>
          <a:xfrm>
            <a:off x="320040" y="868680"/>
            <a:ext cx="1005840" cy="1005840"/>
          </a:xfrm>
          <a:prstGeom prst="ellipse">
            <a:avLst/>
          </a:prstGeom>
          <a:solidFill>
            <a:srgbClr val="FF9900"/>
          </a:solidFill>
          <a:ln w="12700">
            <a:solidFill>
              <a:srgbClr val="FF9900"/>
            </a:solidFill>
            <a:prstDash val="solid"/>
          </a:ln>
        </p:spPr>
      </p:sp>
      <p:sp>
        <p:nvSpPr>
          <p:cNvPr id="5" name="Text 3"/>
          <p:cNvSpPr/>
          <p:nvPr/>
        </p:nvSpPr>
        <p:spPr>
          <a:xfrm>
            <a:off x="320040" y="868680"/>
            <a:ext cx="1005840" cy="100584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Shape 4"/>
          <p:cNvSpPr/>
          <p:nvPr/>
        </p:nvSpPr>
        <p:spPr>
          <a:xfrm>
            <a:off x="1508760" y="804672"/>
            <a:ext cx="7315200" cy="3566160"/>
          </a:xfrm>
          <a:prstGeom prst="rect">
            <a:avLst/>
          </a:prstGeom>
          <a:solidFill>
            <a:srgbClr val="FFFFFF"/>
          </a:solidFill>
          <a:ln w="12700">
            <a:solidFill>
              <a:srgbClr val="E2EAF4"/>
            </a:solidFill>
            <a:prstDash val="solid"/>
          </a:ln>
          <a:effectLst>
            <a:outerShdw blurRad="63500" dist="25400" dir="8100000" algn="bl" rotWithShape="0">
              <a:srgbClr val="000000">
                <a:alpha val="12000"/>
              </a:srgbClr>
            </a:outerShdw>
          </a:effectLst>
        </p:spPr>
      </p:sp>
      <p:sp>
        <p:nvSpPr>
          <p:cNvPr id="7" name="Text 5"/>
          <p:cNvSpPr/>
          <p:nvPr/>
        </p:nvSpPr>
        <p:spPr>
          <a:xfrm>
            <a:off x="1691640" y="960120"/>
            <a:ext cx="6949440" cy="324612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AWS Lambda is like a magical spotlight that shines exactly when and where you need it. Picture an art exhibition — as visitors enter the gallery, Lambda detects their presence and automatically adjusts the lighting to enhance their experience. No fumbling with switches — just pure, automatic brilliance.</a:t>
            </a:r>
            <a:endParaRPr lang="en-US" sz="1300" dirty="0"/>
          </a:p>
        </p:txBody>
      </p:sp>
      <p:sp>
        <p:nvSpPr>
          <p:cNvPr id="8" name="Text 6"/>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AWS Lambda — Overview</a:t>
            </a:r>
            <a:endParaRPr lang="en-US" sz="1500" dirty="0"/>
          </a:p>
        </p:txBody>
      </p:sp>
      <p:sp>
        <p:nvSpPr>
          <p:cNvPr id="4" name="Shape 2"/>
          <p:cNvSpPr/>
          <p:nvPr/>
        </p:nvSpPr>
        <p:spPr>
          <a:xfrm>
            <a:off x="228600" y="777240"/>
            <a:ext cx="4206240" cy="1828800"/>
          </a:xfrm>
          <a:prstGeom prst="rect">
            <a:avLst/>
          </a:prstGeom>
          <a:solidFill>
            <a:srgbClr val="E2EAF4"/>
          </a:solidFill>
          <a:ln w="12700">
            <a:solidFill>
              <a:srgbClr val="D0D8E8"/>
            </a:solidFill>
            <a:prstDash val="solid"/>
          </a:ln>
          <a:effectLst>
            <a:outerShdw blurRad="63500" dist="25400" dir="8100000" algn="bl" rotWithShape="0">
              <a:srgbClr val="000000">
                <a:alpha val="12000"/>
              </a:srgbClr>
            </a:outerShdw>
          </a:effectLst>
        </p:spPr>
      </p:sp>
      <p:sp>
        <p:nvSpPr>
          <p:cNvPr id="5" name="Shape 3"/>
          <p:cNvSpPr/>
          <p:nvPr/>
        </p:nvSpPr>
        <p:spPr>
          <a:xfrm>
            <a:off x="228600" y="777240"/>
            <a:ext cx="1005840" cy="320040"/>
          </a:xfrm>
          <a:prstGeom prst="rect">
            <a:avLst/>
          </a:prstGeom>
          <a:solidFill>
            <a:srgbClr val="0A2540"/>
          </a:solidFill>
          <a:ln w="12700">
            <a:solidFill>
              <a:srgbClr val="0A2540"/>
            </a:solidFill>
            <a:prstDash val="solid"/>
          </a:ln>
        </p:spPr>
      </p:sp>
      <p:sp>
        <p:nvSpPr>
          <p:cNvPr id="6" name="Text 4"/>
          <p:cNvSpPr/>
          <p:nvPr/>
        </p:nvSpPr>
        <p:spPr>
          <a:xfrm>
            <a:off x="22860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WHAT</a:t>
            </a:r>
            <a:endParaRPr lang="en-US" sz="1100" dirty="0"/>
          </a:p>
        </p:txBody>
      </p:sp>
      <p:sp>
        <p:nvSpPr>
          <p:cNvPr id="7" name="Text 5"/>
          <p:cNvSpPr/>
          <p:nvPr/>
        </p:nvSpPr>
        <p:spPr>
          <a:xfrm>
            <a:off x="33832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AWS Lambda is a serverless compute service that runs your code without the need to manage servers. It spins up exactly when needed and disappears when done — like having invisible assistants ready to execute your commands instantly.</a:t>
            </a:r>
            <a:endParaRPr lang="en-US" sz="1150" dirty="0"/>
          </a:p>
        </p:txBody>
      </p:sp>
      <p:sp>
        <p:nvSpPr>
          <p:cNvPr id="8" name="Shape 6"/>
          <p:cNvSpPr/>
          <p:nvPr/>
        </p:nvSpPr>
        <p:spPr>
          <a:xfrm>
            <a:off x="4709160" y="777240"/>
            <a:ext cx="4206240" cy="1828800"/>
          </a:xfrm>
          <a:prstGeom prst="rect">
            <a:avLst/>
          </a:prstGeom>
          <a:solidFill>
            <a:srgbClr val="FFF3E0"/>
          </a:solidFill>
          <a:ln w="12700">
            <a:solidFill>
              <a:srgbClr val="D0D8E8"/>
            </a:solidFill>
            <a:prstDash val="solid"/>
          </a:ln>
          <a:effectLst>
            <a:outerShdw blurRad="63500" dist="25400" dir="8100000" algn="bl" rotWithShape="0">
              <a:srgbClr val="000000">
                <a:alpha val="12000"/>
              </a:srgbClr>
            </a:outerShdw>
          </a:effectLst>
        </p:spPr>
      </p:sp>
      <p:sp>
        <p:nvSpPr>
          <p:cNvPr id="9" name="Shape 7"/>
          <p:cNvSpPr/>
          <p:nvPr/>
        </p:nvSpPr>
        <p:spPr>
          <a:xfrm>
            <a:off x="4709160" y="777240"/>
            <a:ext cx="1005840" cy="320040"/>
          </a:xfrm>
          <a:prstGeom prst="rect">
            <a:avLst/>
          </a:prstGeom>
          <a:solidFill>
            <a:srgbClr val="E65100"/>
          </a:solidFill>
          <a:ln w="12700">
            <a:solidFill>
              <a:srgbClr val="E65100"/>
            </a:solidFill>
            <a:prstDash val="solid"/>
          </a:ln>
        </p:spPr>
      </p:sp>
      <p:sp>
        <p:nvSpPr>
          <p:cNvPr id="10" name="Text 8"/>
          <p:cNvSpPr/>
          <p:nvPr/>
        </p:nvSpPr>
        <p:spPr>
          <a:xfrm>
            <a:off x="4709160" y="7772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WHY</a:t>
            </a:r>
            <a:endParaRPr lang="en-US" sz="1100" dirty="0"/>
          </a:p>
        </p:txBody>
      </p:sp>
      <p:sp>
        <p:nvSpPr>
          <p:cNvPr id="11" name="Text 9"/>
          <p:cNvSpPr/>
          <p:nvPr/>
        </p:nvSpPr>
        <p:spPr>
          <a:xfrm>
            <a:off x="4818888" y="11612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Say goodbye to tedious server management and high infrastructure costs. With Lambda, you focus solely on your code — knowing it scales seamlessly with demand and you only pay when it's actually running.</a:t>
            </a:r>
            <a:endParaRPr lang="en-US" sz="1150" dirty="0"/>
          </a:p>
        </p:txBody>
      </p:sp>
      <p:sp>
        <p:nvSpPr>
          <p:cNvPr id="12" name="Shape 10"/>
          <p:cNvSpPr/>
          <p:nvPr/>
        </p:nvSpPr>
        <p:spPr>
          <a:xfrm>
            <a:off x="228600" y="2834640"/>
            <a:ext cx="4206240" cy="1828800"/>
          </a:xfrm>
          <a:prstGeom prst="rect">
            <a:avLst/>
          </a:prstGeom>
          <a:solidFill>
            <a:srgbClr val="E8F8EE"/>
          </a:solidFill>
          <a:ln w="12700">
            <a:solidFill>
              <a:srgbClr val="D0D8E8"/>
            </a:solidFill>
            <a:prstDash val="solid"/>
          </a:ln>
          <a:effectLst>
            <a:outerShdw blurRad="63500" dist="25400" dir="8100000" algn="bl" rotWithShape="0">
              <a:srgbClr val="000000">
                <a:alpha val="12000"/>
              </a:srgbClr>
            </a:outerShdw>
          </a:effectLst>
        </p:spPr>
      </p:sp>
      <p:sp>
        <p:nvSpPr>
          <p:cNvPr id="13" name="Shape 11"/>
          <p:cNvSpPr/>
          <p:nvPr/>
        </p:nvSpPr>
        <p:spPr>
          <a:xfrm>
            <a:off x="228600" y="2834640"/>
            <a:ext cx="1005840" cy="320040"/>
          </a:xfrm>
          <a:prstGeom prst="rect">
            <a:avLst/>
          </a:prstGeom>
          <a:solidFill>
            <a:srgbClr val="1A8A4A"/>
          </a:solidFill>
          <a:ln w="12700">
            <a:solidFill>
              <a:srgbClr val="1A8A4A"/>
            </a:solidFill>
            <a:prstDash val="solid"/>
          </a:ln>
        </p:spPr>
      </p:sp>
      <p:sp>
        <p:nvSpPr>
          <p:cNvPr id="14" name="Text 12"/>
          <p:cNvSpPr/>
          <p:nvPr/>
        </p:nvSpPr>
        <p:spPr>
          <a:xfrm>
            <a:off x="22860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HOW</a:t>
            </a:r>
            <a:endParaRPr lang="en-US" sz="1100" dirty="0"/>
          </a:p>
        </p:txBody>
      </p:sp>
      <p:sp>
        <p:nvSpPr>
          <p:cNvPr id="15" name="Text 13"/>
          <p:cNvSpPr/>
          <p:nvPr/>
        </p:nvSpPr>
        <p:spPr>
          <a:xfrm>
            <a:off x="33832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Lambda is event-driven. When an event occurs — a user interaction, a file uploaded to S3, or a scheduled trigger — Lambda springs into action, executing your code with precision and speed. No servers to provision.</a:t>
            </a:r>
            <a:endParaRPr lang="en-US" sz="1150" dirty="0"/>
          </a:p>
        </p:txBody>
      </p:sp>
      <p:sp>
        <p:nvSpPr>
          <p:cNvPr id="16" name="Shape 14"/>
          <p:cNvSpPr/>
          <p:nvPr/>
        </p:nvSpPr>
        <p:spPr>
          <a:xfrm>
            <a:off x="4709160" y="2834640"/>
            <a:ext cx="4206240" cy="1828800"/>
          </a:xfrm>
          <a:prstGeom prst="rect">
            <a:avLst/>
          </a:prstGeom>
          <a:solidFill>
            <a:srgbClr val="FDECEA"/>
          </a:solidFill>
          <a:ln w="12700">
            <a:solidFill>
              <a:srgbClr val="D0D8E8"/>
            </a:solidFill>
            <a:prstDash val="solid"/>
          </a:ln>
          <a:effectLst>
            <a:outerShdw blurRad="63500" dist="25400" dir="8100000" algn="bl" rotWithShape="0">
              <a:srgbClr val="000000">
                <a:alpha val="12000"/>
              </a:srgbClr>
            </a:outerShdw>
          </a:effectLst>
        </p:spPr>
      </p:sp>
      <p:sp>
        <p:nvSpPr>
          <p:cNvPr id="17" name="Shape 15"/>
          <p:cNvSpPr/>
          <p:nvPr/>
        </p:nvSpPr>
        <p:spPr>
          <a:xfrm>
            <a:off x="4709160" y="2834640"/>
            <a:ext cx="1005840" cy="320040"/>
          </a:xfrm>
          <a:prstGeom prst="rect">
            <a:avLst/>
          </a:prstGeom>
          <a:solidFill>
            <a:srgbClr val="C0392B"/>
          </a:solidFill>
          <a:ln w="12700">
            <a:solidFill>
              <a:srgbClr val="C0392B"/>
            </a:solidFill>
            <a:prstDash val="solid"/>
          </a:ln>
        </p:spPr>
      </p:sp>
      <p:sp>
        <p:nvSpPr>
          <p:cNvPr id="18" name="Text 16"/>
          <p:cNvSpPr/>
          <p:nvPr/>
        </p:nvSpPr>
        <p:spPr>
          <a:xfrm>
            <a:off x="4709160" y="2834640"/>
            <a:ext cx="1005840" cy="320040"/>
          </a:xfrm>
          <a:prstGeom prst="rect">
            <a:avLst/>
          </a:prstGeom>
          <a:noFill/>
          <a:ln/>
        </p:spPr>
        <p:txBody>
          <a:bodyPr wrap="square" lIns="0" tIns="0" rIns="0" bIns="0" rtlCol="0" anchor="ctr"/>
          <a:lstStyle/>
          <a:p>
            <a:pPr marL="0" indent="0" algn="ctr">
              <a:buNone/>
            </a:pPr>
            <a:r>
              <a:rPr lang="en-US" sz="1100" b="1" dirty="0">
                <a:solidFill>
                  <a:srgbClr val="FFFFFF"/>
                </a:solidFill>
              </a:rPr>
              <a:t>INDUSTRY</a:t>
            </a:r>
            <a:endParaRPr lang="en-US" sz="1100" dirty="0"/>
          </a:p>
        </p:txBody>
      </p:sp>
      <p:sp>
        <p:nvSpPr>
          <p:cNvPr id="19" name="Text 17"/>
          <p:cNvSpPr/>
          <p:nvPr/>
        </p:nvSpPr>
        <p:spPr>
          <a:xfrm>
            <a:off x="4818888" y="3218688"/>
            <a:ext cx="3986784" cy="137160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From startups to global enterprises, Lambda empowers businesses to innovate rapidly, reduce overhead costs, and deliver exceptional experiences. It removes infrastructure management complexity — letting developers focus on building.</a:t>
            </a:r>
            <a:endParaRPr lang="en-US" sz="1150" dirty="0"/>
          </a:p>
        </p:txBody>
      </p:sp>
      <p:sp>
        <p:nvSpPr>
          <p:cNvPr id="20" name="Text 18"/>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2540"/>
          </a:solidFill>
          <a:ln w="12700">
            <a:solidFill>
              <a:srgbClr val="0A2540"/>
            </a:solidFill>
            <a:prstDash val="solid"/>
          </a:ln>
        </p:spPr>
      </p:sp>
      <p:sp>
        <p:nvSpPr>
          <p:cNvPr id="3" name="Text 1"/>
          <p:cNvSpPr/>
          <p:nvPr/>
        </p:nvSpPr>
        <p:spPr>
          <a:xfrm>
            <a:off x="274320" y="0"/>
            <a:ext cx="8595360" cy="658368"/>
          </a:xfrm>
          <a:prstGeom prst="rect">
            <a:avLst/>
          </a:prstGeom>
          <a:noFill/>
          <a:ln/>
        </p:spPr>
        <p:txBody>
          <a:bodyPr wrap="square" lIns="0" tIns="0" rIns="0" bIns="0" rtlCol="0" anchor="ctr"/>
          <a:lstStyle/>
          <a:p>
            <a:pPr marL="0" indent="0">
              <a:buNone/>
            </a:pPr>
            <a:r>
              <a:rPr lang="en-US" sz="1500" b="1" dirty="0">
                <a:solidFill>
                  <a:srgbClr val="FFFFFF"/>
                </a:solidFill>
              </a:rPr>
              <a:t>Quiz  —  AWS Lambda</a:t>
            </a:r>
            <a:endParaRPr lang="en-US" sz="1500" dirty="0"/>
          </a:p>
        </p:txBody>
      </p:sp>
      <p:sp>
        <p:nvSpPr>
          <p:cNvPr id="4" name="Shape 2"/>
          <p:cNvSpPr/>
          <p:nvPr/>
        </p:nvSpPr>
        <p:spPr>
          <a:xfrm>
            <a:off x="228600" y="777240"/>
            <a:ext cx="8686800" cy="292608"/>
          </a:xfrm>
          <a:prstGeom prst="rect">
            <a:avLst/>
          </a:prstGeom>
          <a:solidFill>
            <a:srgbClr val="0A2540"/>
          </a:solidFill>
          <a:ln w="12700">
            <a:solidFill>
              <a:srgbClr val="0A2540"/>
            </a:solidFill>
            <a:prstDash val="solid"/>
          </a:ln>
        </p:spPr>
      </p:sp>
      <p:sp>
        <p:nvSpPr>
          <p:cNvPr id="5" name="Text 3"/>
          <p:cNvSpPr/>
          <p:nvPr/>
        </p:nvSpPr>
        <p:spPr>
          <a:xfrm>
            <a:off x="320040" y="7772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Q1.  What is AWS Lambda?</a:t>
            </a:r>
            <a:endParaRPr lang="en-US" sz="1150" dirty="0"/>
          </a:p>
        </p:txBody>
      </p:sp>
      <p:sp>
        <p:nvSpPr>
          <p:cNvPr id="6" name="Shape 4"/>
          <p:cNvSpPr/>
          <p:nvPr/>
        </p:nvSpPr>
        <p:spPr>
          <a:xfrm>
            <a:off x="228600" y="1088136"/>
            <a:ext cx="8686800" cy="246888"/>
          </a:xfrm>
          <a:prstGeom prst="rect">
            <a:avLst/>
          </a:prstGeom>
          <a:solidFill>
            <a:srgbClr val="E8F8EE"/>
          </a:solidFill>
          <a:ln w="12700">
            <a:solidFill>
              <a:srgbClr val="1A8A4A"/>
            </a:solidFill>
            <a:prstDash val="solid"/>
          </a:ln>
        </p:spPr>
      </p:sp>
      <p:sp>
        <p:nvSpPr>
          <p:cNvPr id="7" name="Text 5"/>
          <p:cNvSpPr/>
          <p:nvPr/>
        </p:nvSpPr>
        <p:spPr>
          <a:xfrm>
            <a:off x="365760" y="10881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A serverless compute service</a:t>
            </a:r>
            <a:endParaRPr lang="en-US" sz="1100" dirty="0"/>
          </a:p>
        </p:txBody>
      </p:sp>
      <p:sp>
        <p:nvSpPr>
          <p:cNvPr id="8" name="Shape 6"/>
          <p:cNvSpPr/>
          <p:nvPr/>
        </p:nvSpPr>
        <p:spPr>
          <a:xfrm>
            <a:off x="228600" y="1353312"/>
            <a:ext cx="8686800" cy="246888"/>
          </a:xfrm>
          <a:prstGeom prst="rect">
            <a:avLst/>
          </a:prstGeom>
          <a:solidFill>
            <a:srgbClr val="FFF8F8"/>
          </a:solidFill>
          <a:ln w="12700">
            <a:solidFill>
              <a:srgbClr val="E8D0D0"/>
            </a:solidFill>
            <a:prstDash val="solid"/>
          </a:ln>
        </p:spPr>
      </p:sp>
      <p:sp>
        <p:nvSpPr>
          <p:cNvPr id="9" name="Text 7"/>
          <p:cNvSpPr/>
          <p:nvPr/>
        </p:nvSpPr>
        <p:spPr>
          <a:xfrm>
            <a:off x="365760" y="13533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A traditional server</a:t>
            </a:r>
            <a:endParaRPr lang="en-US" sz="1100" dirty="0"/>
          </a:p>
        </p:txBody>
      </p:sp>
      <p:sp>
        <p:nvSpPr>
          <p:cNvPr id="10" name="Shape 8"/>
          <p:cNvSpPr/>
          <p:nvPr/>
        </p:nvSpPr>
        <p:spPr>
          <a:xfrm>
            <a:off x="228600" y="1691640"/>
            <a:ext cx="8686800" cy="292608"/>
          </a:xfrm>
          <a:prstGeom prst="rect">
            <a:avLst/>
          </a:prstGeom>
          <a:solidFill>
            <a:srgbClr val="0A2540"/>
          </a:solidFill>
          <a:ln w="12700">
            <a:solidFill>
              <a:srgbClr val="0A2540"/>
            </a:solidFill>
            <a:prstDash val="solid"/>
          </a:ln>
        </p:spPr>
      </p:sp>
      <p:sp>
        <p:nvSpPr>
          <p:cNvPr id="11" name="Text 9"/>
          <p:cNvSpPr/>
          <p:nvPr/>
        </p:nvSpPr>
        <p:spPr>
          <a:xfrm>
            <a:off x="320040" y="16916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Q2.  Why use AWS Lambda?</a:t>
            </a:r>
            <a:endParaRPr lang="en-US" sz="1150" dirty="0"/>
          </a:p>
        </p:txBody>
      </p:sp>
      <p:sp>
        <p:nvSpPr>
          <p:cNvPr id="12" name="Shape 10"/>
          <p:cNvSpPr/>
          <p:nvPr/>
        </p:nvSpPr>
        <p:spPr>
          <a:xfrm>
            <a:off x="228600" y="2002536"/>
            <a:ext cx="8686800" cy="246888"/>
          </a:xfrm>
          <a:prstGeom prst="rect">
            <a:avLst/>
          </a:prstGeom>
          <a:solidFill>
            <a:srgbClr val="E8F8EE"/>
          </a:solidFill>
          <a:ln w="12700">
            <a:solidFill>
              <a:srgbClr val="1A8A4A"/>
            </a:solidFill>
            <a:prstDash val="solid"/>
          </a:ln>
        </p:spPr>
      </p:sp>
      <p:sp>
        <p:nvSpPr>
          <p:cNvPr id="13" name="Text 11"/>
          <p:cNvSpPr/>
          <p:nvPr/>
        </p:nvSpPr>
        <p:spPr>
          <a:xfrm>
            <a:off x="365760" y="20025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Seamless scalability and no server management</a:t>
            </a:r>
            <a:endParaRPr lang="en-US" sz="1100" dirty="0"/>
          </a:p>
        </p:txBody>
      </p:sp>
      <p:sp>
        <p:nvSpPr>
          <p:cNvPr id="14" name="Shape 12"/>
          <p:cNvSpPr/>
          <p:nvPr/>
        </p:nvSpPr>
        <p:spPr>
          <a:xfrm>
            <a:off x="228600" y="2267712"/>
            <a:ext cx="8686800" cy="246888"/>
          </a:xfrm>
          <a:prstGeom prst="rect">
            <a:avLst/>
          </a:prstGeom>
          <a:solidFill>
            <a:srgbClr val="FFF8F8"/>
          </a:solidFill>
          <a:ln w="12700">
            <a:solidFill>
              <a:srgbClr val="E8D0D0"/>
            </a:solidFill>
            <a:prstDash val="solid"/>
          </a:ln>
        </p:spPr>
      </p:sp>
      <p:sp>
        <p:nvSpPr>
          <p:cNvPr id="15" name="Text 13"/>
          <p:cNvSpPr/>
          <p:nvPr/>
        </p:nvSpPr>
        <p:spPr>
          <a:xfrm>
            <a:off x="365760" y="22677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Server maintenance</a:t>
            </a:r>
            <a:endParaRPr lang="en-US" sz="1100" dirty="0"/>
          </a:p>
        </p:txBody>
      </p:sp>
      <p:sp>
        <p:nvSpPr>
          <p:cNvPr id="16" name="Shape 14"/>
          <p:cNvSpPr/>
          <p:nvPr/>
        </p:nvSpPr>
        <p:spPr>
          <a:xfrm>
            <a:off x="228600" y="2606040"/>
            <a:ext cx="8686800" cy="292608"/>
          </a:xfrm>
          <a:prstGeom prst="rect">
            <a:avLst/>
          </a:prstGeom>
          <a:solidFill>
            <a:srgbClr val="0A2540"/>
          </a:solidFill>
          <a:ln w="12700">
            <a:solidFill>
              <a:srgbClr val="0A2540"/>
            </a:solidFill>
            <a:prstDash val="solid"/>
          </a:ln>
        </p:spPr>
      </p:sp>
      <p:sp>
        <p:nvSpPr>
          <p:cNvPr id="17" name="Text 15"/>
          <p:cNvSpPr/>
          <p:nvPr/>
        </p:nvSpPr>
        <p:spPr>
          <a:xfrm>
            <a:off x="320040" y="2606040"/>
            <a:ext cx="8503920" cy="292608"/>
          </a:xfrm>
          <a:prstGeom prst="rect">
            <a:avLst/>
          </a:prstGeom>
          <a:noFill/>
          <a:ln/>
        </p:spPr>
        <p:txBody>
          <a:bodyPr wrap="square" lIns="0" tIns="0" rIns="0" bIns="0" rtlCol="0" anchor="ctr"/>
          <a:lstStyle/>
          <a:p>
            <a:pPr marL="0" indent="0">
              <a:buNone/>
            </a:pPr>
            <a:r>
              <a:rPr lang="en-US" sz="1150" b="1" dirty="0">
                <a:solidFill>
                  <a:srgbClr val="FFFFFF"/>
                </a:solidFill>
              </a:rPr>
              <a:t>Q3.  How does AWS Lambda work?</a:t>
            </a:r>
            <a:endParaRPr lang="en-US" sz="1150" dirty="0"/>
          </a:p>
        </p:txBody>
      </p:sp>
      <p:sp>
        <p:nvSpPr>
          <p:cNvPr id="18" name="Shape 16"/>
          <p:cNvSpPr/>
          <p:nvPr/>
        </p:nvSpPr>
        <p:spPr>
          <a:xfrm>
            <a:off x="228600" y="2916936"/>
            <a:ext cx="8686800" cy="246888"/>
          </a:xfrm>
          <a:prstGeom prst="rect">
            <a:avLst/>
          </a:prstGeom>
          <a:solidFill>
            <a:srgbClr val="E8F8EE"/>
          </a:solidFill>
          <a:ln w="12700">
            <a:solidFill>
              <a:srgbClr val="1A8A4A"/>
            </a:solidFill>
            <a:prstDash val="solid"/>
          </a:ln>
        </p:spPr>
      </p:sp>
      <p:sp>
        <p:nvSpPr>
          <p:cNvPr id="19" name="Text 17"/>
          <p:cNvSpPr/>
          <p:nvPr/>
        </p:nvSpPr>
        <p:spPr>
          <a:xfrm>
            <a:off x="365760" y="2916936"/>
            <a:ext cx="8412480" cy="246888"/>
          </a:xfrm>
          <a:prstGeom prst="rect">
            <a:avLst/>
          </a:prstGeom>
          <a:noFill/>
          <a:ln/>
        </p:spPr>
        <p:txBody>
          <a:bodyPr wrap="square" lIns="0" tIns="0" rIns="0" bIns="0" rtlCol="0" anchor="ctr"/>
          <a:lstStyle/>
          <a:p>
            <a:pPr marL="0" indent="0">
              <a:buNone/>
            </a:pPr>
            <a:r>
              <a:rPr lang="en-US" sz="1100" b="1" dirty="0">
                <a:solidFill>
                  <a:srgbClr val="1A8A4A"/>
                </a:solidFill>
              </a:rPr>
              <a:t>✓  Event-driven execution</a:t>
            </a:r>
            <a:endParaRPr lang="en-US" sz="1100" dirty="0"/>
          </a:p>
        </p:txBody>
      </p:sp>
      <p:sp>
        <p:nvSpPr>
          <p:cNvPr id="20" name="Shape 18"/>
          <p:cNvSpPr/>
          <p:nvPr/>
        </p:nvSpPr>
        <p:spPr>
          <a:xfrm>
            <a:off x="228600" y="3182112"/>
            <a:ext cx="8686800" cy="246888"/>
          </a:xfrm>
          <a:prstGeom prst="rect">
            <a:avLst/>
          </a:prstGeom>
          <a:solidFill>
            <a:srgbClr val="FFF8F8"/>
          </a:solidFill>
          <a:ln w="12700">
            <a:solidFill>
              <a:srgbClr val="E8D0D0"/>
            </a:solidFill>
            <a:prstDash val="solid"/>
          </a:ln>
        </p:spPr>
      </p:sp>
      <p:sp>
        <p:nvSpPr>
          <p:cNvPr id="21" name="Text 19"/>
          <p:cNvSpPr/>
          <p:nvPr/>
        </p:nvSpPr>
        <p:spPr>
          <a:xfrm>
            <a:off x="365760" y="3182112"/>
            <a:ext cx="8412480" cy="246888"/>
          </a:xfrm>
          <a:prstGeom prst="rect">
            <a:avLst/>
          </a:prstGeom>
          <a:noFill/>
          <a:ln/>
        </p:spPr>
        <p:txBody>
          <a:bodyPr wrap="square" lIns="0" tIns="0" rIns="0" bIns="0" rtlCol="0" anchor="ctr"/>
          <a:lstStyle/>
          <a:p>
            <a:pPr marL="0" indent="0">
              <a:buNone/>
            </a:pPr>
            <a:r>
              <a:rPr lang="en-US" sz="1100" dirty="0">
                <a:solidFill>
                  <a:srgbClr val="C0392B"/>
                </a:solidFill>
              </a:rPr>
              <a:t>✗  Server management</a:t>
            </a:r>
            <a:endParaRPr lang="en-US" sz="1100" dirty="0"/>
          </a:p>
        </p:txBody>
      </p:sp>
      <p:sp>
        <p:nvSpPr>
          <p:cNvPr id="22" name="Text 20"/>
          <p:cNvSpPr/>
          <p:nvPr/>
        </p:nvSpPr>
        <p:spPr>
          <a:xfrm>
            <a:off x="274320" y="4800600"/>
            <a:ext cx="8595360" cy="274320"/>
          </a:xfrm>
          <a:prstGeom prst="rect">
            <a:avLst/>
          </a:prstGeom>
          <a:noFill/>
          <a:ln/>
        </p:spPr>
        <p:txBody>
          <a:bodyPr wrap="square" rtlCol="0" anchor="ctr"/>
          <a:lstStyle/>
          <a:p>
            <a:pPr marL="0" indent="0">
              <a:buNone/>
            </a:pPr>
            <a:r>
              <a:rPr lang="en-US" sz="1000" dirty="0" smtClean="0">
                <a:solidFill>
                  <a:srgbClr val="64748B"/>
                </a:solidFill>
              </a:rPr>
              <a:t>Maaran Tech Academy  </a:t>
            </a:r>
            <a:r>
              <a:rPr lang="en-US" sz="1000" dirty="0">
                <a:solidFill>
                  <a:srgbClr val="64748B"/>
                </a:solidFill>
              </a:rPr>
              <a:t>|  AWS Training Program</a:t>
            </a:r>
            <a:endParaRPr lang="en-US" sz="1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4">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9900"/>
          </a:solidFill>
          <a:ln w="12700">
            <a:solidFill>
              <a:srgbClr val="FF9900"/>
            </a:solidFill>
            <a:prstDash val="solid"/>
          </a:ln>
        </p:spPr>
      </p:sp>
      <p:sp>
        <p:nvSpPr>
          <p:cNvPr id="3" name="Text 1"/>
          <p:cNvSpPr/>
          <p:nvPr/>
        </p:nvSpPr>
        <p:spPr>
          <a:xfrm>
            <a:off x="502920" y="1645920"/>
            <a:ext cx="8229600" cy="91440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Training Complete!</a:t>
            </a:r>
            <a:endParaRPr lang="en-US" sz="4400" dirty="0"/>
          </a:p>
        </p:txBody>
      </p:sp>
      <p:sp>
        <p:nvSpPr>
          <p:cNvPr id="4" name="Text 2"/>
          <p:cNvSpPr/>
          <p:nvPr/>
        </p:nvSpPr>
        <p:spPr>
          <a:xfrm>
            <a:off x="502920" y="2651760"/>
            <a:ext cx="8229600" cy="457200"/>
          </a:xfrm>
          <a:prstGeom prst="rect">
            <a:avLst/>
          </a:prstGeom>
          <a:noFill/>
          <a:ln/>
        </p:spPr>
        <p:txBody>
          <a:bodyPr wrap="square" rtlCol="0" anchor="ctr"/>
          <a:lstStyle/>
          <a:p>
            <a:pPr marL="0" indent="0" algn="ctr">
              <a:buNone/>
            </a:pPr>
            <a:r>
              <a:rPr lang="en-US" sz="2200" dirty="0">
                <a:solidFill>
                  <a:srgbClr val="FF9900"/>
                </a:solidFill>
              </a:rPr>
              <a:t>You have covered all 28 AWS Topics</a:t>
            </a:r>
            <a:endParaRPr lang="en-US" sz="2200" dirty="0"/>
          </a:p>
        </p:txBody>
      </p:sp>
      <p:sp>
        <p:nvSpPr>
          <p:cNvPr id="5" name="Text 3"/>
          <p:cNvSpPr/>
          <p:nvPr/>
        </p:nvSpPr>
        <p:spPr>
          <a:xfrm>
            <a:off x="502920" y="4480560"/>
            <a:ext cx="8229600" cy="320040"/>
          </a:xfrm>
          <a:prstGeom prst="rect">
            <a:avLst/>
          </a:prstGeom>
          <a:noFill/>
          <a:ln/>
        </p:spPr>
        <p:txBody>
          <a:bodyPr wrap="square" rtlCol="0" anchor="ctr"/>
          <a:lstStyle/>
          <a:p>
            <a:pPr marL="0" indent="0" algn="ctr">
              <a:buNone/>
            </a:pPr>
            <a:r>
              <a:rPr lang="en-US" sz="1300" dirty="0" smtClean="0">
                <a:solidFill>
                  <a:srgbClr val="64748B"/>
                </a:solidFill>
              </a:rPr>
              <a:t>Maaran Tech Academy  </a:t>
            </a:r>
            <a:r>
              <a:rPr lang="en-US" sz="1300" dirty="0">
                <a:solidFill>
                  <a:srgbClr val="64748B"/>
                </a:solidFill>
              </a:rPr>
              <a:t>|  AWS Training Program  |  Keep Learning, Keep Growing!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8971</Words>
  <Application>Microsoft Office PowerPoint</Application>
  <PresentationFormat>On-screen Show (16:9)</PresentationFormat>
  <Paragraphs>938</Paragraphs>
  <Slides>115</Slides>
  <Notes>115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115</vt:i4>
      </vt:variant>
    </vt:vector>
  </HeadingPairs>
  <TitlesOfParts>
    <vt:vector size="1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Cloud Fundamentals</dc:title>
  <dc:subject>PptxGenJS Presentation</dc:subject>
  <dc:creator>PptxGenJS</dc:creator>
  <cp:lastModifiedBy>WELCOME</cp:lastModifiedBy>
  <cp:revision>7</cp:revision>
  <dcterms:created xsi:type="dcterms:W3CDTF">2026-02-17T08:24:12Z</dcterms:created>
  <dcterms:modified xsi:type="dcterms:W3CDTF">2026-02-17T08:56:04Z</dcterms:modified>
</cp:coreProperties>
</file>